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5120640" cy="36576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E0F2FE"/>
                </a:solidFill>
              </a:defRPr>
            </a:pPr>
            <a:r>
              <a:t>B.TECH CSE FINAL YEAR CAPSTONE PROJECT DEFENSE (300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AquaSense WQMS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IoT-Based Real-Time Multi-Parameter Water Quality Monitoring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383280" cy="2011680"/>
          </a:xfrm>
          <a:prstGeom prst="roundRect">
            <a:avLst/>
          </a:prstGeom>
          <a:solidFill>
            <a:srgbClr val="172A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 Naila Javed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Frontend &amp; AI/ML Lead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Glassmorphism UI, 6 SVG Speedometers, Weighted WQI Engine &amp;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017520"/>
            <a:ext cx="3383280" cy="2011680"/>
          </a:xfrm>
          <a:prstGeom prst="roundRect">
            <a:avLst/>
          </a:prstGeom>
          <a:solidFill>
            <a:srgbClr val="172A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 Aparna Pandey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IoT &amp; Sensors Lead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ESP32 Firmware, ADC1 Pin Allocation, 40-Sample Median Filter,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017520"/>
            <a:ext cx="3383280" cy="2011680"/>
          </a:xfrm>
          <a:prstGeom prst="roundRect">
            <a:avLst/>
          </a:prstGeom>
          <a:solidFill>
            <a:srgbClr val="172A5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 Member 3</a:t>
            </a:r>
          </a:p>
          <a:p>
            <a:pPr>
              <a:defRPr sz="1150" b="1">
                <a:solidFill>
                  <a:srgbClr val="38BDF8"/>
                </a:solidFill>
              </a:defRPr>
            </a:pPr>
            <a:r>
              <a:t>Backend &amp; Deployment Lead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Flask REST API, SQLAlchemy SQLite DB, Render/Vercel Cloud Deploy, Watchdog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🤝 Joint Hardware Fabrication: Complete Breadboard Circuit Assembly, Probe Isolation, 3-Buffer Calibration &amp; Lab Testing by Entire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Live Web App: https://wqms-sys.vercel.app/   |   Cloud API: https://wqms-iot-dashboard.onrender.com   |   Date: October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PROJECT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Real-World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2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The Conventional Testing Problem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High Latency: Standard laboratory titration takes 24 to 48 hours for reports.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Health Risks: Contaminated water is consumed before lab results arrive.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Lack of Temporal Visibility: Manual grab-sampling misses intermittent pipe bursts.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Excessive Cost: Commercial laboratory testing costs ₹1,500 – ₹3,000 per sample.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AquaSense Cyber-Physical Target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Autonomous Continuous Monitoring: Live telemetry captured every 4 seconds.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Multi-Parameter Sensing: 6 critical chemical and physical indicators monitored.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Zero Human Delay: Immediate cloud contamination alerts triggered at source.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Cost Efficiency: Prototype fabricated under ₹3,100 with zero recurring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PROJECT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 &amp; System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3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Key Engineering Objectives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In-Situ Sensing: Direct immersion of waterproof probes in distribution vessels.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Hardware Edge Processing: On-chip signal conditioning &amp; 40-sample median filtering.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Dynamic Temperature Compensation: Eliminates thermal drift in conductivity readings.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Deterministic WQI Scoring: Single composite health index (0-100) per WHO &amp; BIS.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Full-Stack System Deliverables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Dual-Transport Telemetry: MQTT broker pipeline with HTTP REST fallback.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Light-Themed Glassmorphism UI: 6 SVG speedometers with physical inertia.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Historical Waveform Analyzer: Multi-series temporal charts via Chart.js 4.4.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Cross-Device Mobility: Zero-install on-screen QR code scanner for field officers.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3-Tier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4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3-Tier Structural Overview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Perception Layer (Edge): ESP32 MCU + 4 physical probes (TDS, pH, Turbidity, Temp).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Transport &amp; Ingestion Layer: JSON payload over Wi-Fi 802.11 b/g/n (MQTT / HTTP REST).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Backend Processing Layer: Python Flask server on Render + SQLite DB (SQLAlchemy ORM).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Presentation Layer (Client): Vercel Edge CDN dashboard with sub-50ms loading.</a:t>
            </a:r>
          </a:p>
        </p:txBody>
      </p:sp>
      <p:pic>
        <p:nvPicPr>
          <p:cNvPr id="9" name="Picture 8" descr="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29587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760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475569"/>
                </a:solidFill>
              </a:defRPr>
            </a:pPr>
            <a:r>
              <a:t>Live 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STANDARDS &amp; SAFETY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Water Quality Standards (WHO &amp; BIS IS 10500:2012)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5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Public Health Benchmarks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Total Dissolved Solids (TDS): Ideal ≤ 300 ppm | Safe: 300-500 ppm | Unsafe: &gt; 900 ppm.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pH Balance: Neutral: 6.8 - 7.8 | Safe: 6.5 - 8.5 | Unsafe: &lt; 6.0 or &gt; 9.0.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Turbidity (Cloudiness): Ideal ≤ 1.0 NTU | Safe: 1.0 - 5.0 NTU | Unsafe: &gt; 10.0 NTU.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Temperature: Ambient: 15 - 32 °C | Thermal Warning: &gt; 38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Secondary Indicators &amp; WQI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Dissolved Oxygen (DO): Ideal ≥ 6.5 mg/L | Safe: 5.0 - 6.5 mg/L | Unsafe: &lt; 4.0 mg/L.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Electrical Conductivity (EC): Ideal ≤ 400 µS/cm | Safe: 400 - 800 µS/cm.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Overall WQI Composite Index: 90-100 (Excellent), 70-89 (Safe), &lt;50 (Unfit for Drinking).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Regulatory Compliance: Formulated strictly per Indian Standard BIS IS 10500:2012.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PROJECT PLANNING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4-Month Academic Development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6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Semester Development Sprints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Month 1: Literature review, WHO/BIS standards mapping, BOM procurement &amp; pinout design.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Month 2: C++ firmware coding, 40-sample median filter, Flask API &amp; SQLite database setup.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Month 3: Glassmorphism UI, 6 SVG speedometers, WQI algorithm &amp; Chart.js waveforms.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Month 4: Cloud deployment (Render + Vercel), 3-buffer calibration &amp; lab sample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Specialized Member Responsibilities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Aparna Pandey: Hardware perception, ESP32 ADC1 wiring, firmware &amp; sensor calibration.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Member 3: Flask REST APIs, SQLAlchemy database, Render deployment &amp; watchdog.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Naila Javed: UI/UX glassmorphism, SVG meters, WQI calculation &amp; mobile QR access.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Entire Team: Physical breadboard wiring, probe isolation &amp; 3-sample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IOT &amp; SENSORS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Hardware Bill of Materials (BOM) &amp; Sensor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Aparna Pandey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7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Core Hardware Components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ESP32 DevKit V1: 240MHz dual-core Xtensa MCU with integrated 2.4GHz Wi-Fi and 12-bit ADC.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TDS Sensor (SEN0244): Dual-pin probe measuring dissolved ion conductance (0-1500 ppm).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pH Sensor Probe (E-201-C): Glass electrode with BNC signal amplifier board (0-14 pH).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Optical Turbidity (SEN0189): Infrared emitter/detector measuring suspended scatter.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Digital Temp (DS18B20): Waterproof stainless steel thermal probe with 1-Wire bus.</a:t>
            </a:r>
          </a:p>
        </p:txBody>
      </p:sp>
      <p:pic>
        <p:nvPicPr>
          <p:cNvPr id="9" name="Picture 8" descr="hardware_wiring_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2653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760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475569"/>
                </a:solidFill>
              </a:defRPr>
            </a:pPr>
            <a:r>
              <a:t>Hardware Wiring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IOT &amp; SENSORS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ESP32 Pinout &amp; ADC1 Channel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Aparna Pandey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8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Exact Pin-to-Pin Circuit Mapping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TDS Sensor AOUT → GPIO 34 (ADC1_CH6, Analog Input)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pH Sensor AOUT → GPIO 35 (ADC1_CH7, Analog Input)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Turbidity Sensor AOUT → GPIO 32 (ADC1_CH4, Analog Input)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DS18B20 Data → GPIO 4 (1-Wire Bus with 4.7kΩ pull-up resistor to 3.3V)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Critical Engineering Decision: ADC1 vs ADC2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ESP32 Architecture Constraint: ADC2 channels are shared with Wi-Fi power circuits.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If analog sensors are wired to ADC2 (GPIO 2, 4, 12-15), readings corrupt during transmission.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All analog sensors were strictly isolated on ADC1 channels (GPIO 32, 34, 35).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Guarantees 100% uninterrupted, noise-free sampling during live Wi-Fi streaming.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IOT &amp; SENSORS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Embedded C++ Firmware &amp; Sampling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Aparna Pandey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9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Firmware Architecture (`tds_sensor.ino`)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Framework: Arduino C++ with PubSubClient, OneWire, and DallasTemperature libraries.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12-Bit ADC Configuration: analogReadResolution(12) yielding 0–4095 discrete levels.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Analog Attenuation: analogSetAttenuation(ADC_11db) for full 0 to 3.3V dynamic range.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Non-Blocking Timing: Uses millis() timer (4000ms interval) instead of blocking delay().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Telemetry Payload Dispatch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Serializes cleaned metrics into structured JSON string format.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Payload attributes: device_id, tds, ph, turbidity, temperature, do, ec.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Dispatches packet to local/cloud MQTT broker on topic water/tds/data.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Includes local Serial debugging output for real-time serial terminal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IOT &amp; SENSORS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40-Sample Median Filtering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Aparna Pandey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10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The Analog Noise Problem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Submerged water probes act as miniature antennas, picking up 50Hz electrical hum.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Nearby pump motors and power adapters cause abrupt voltage spikes and dips.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Simple arithmetic averaging fails because severe spikes skew the mean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4-Step Median Noise Filter Implementation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Step 1: Capture 40 consecutive raw analog samples spaced at 8ms intervals.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Step 2: Execute an in-place bubble-sort to arrange samples in ascending order.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Step 3: Discard the 10 lowest and 10 highest samples (trimming 50% extreme outliers).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Step 4: Average the central 20 samples to obtain a steady, laboratory-grade baseline voltage.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IOT &amp; SENSORS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Temperature Compensation &amp; Sensor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Aparna Pandey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11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Temperature Compensation Principle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Conductivity increases ~2% per 1°C temperature rise due to decreased water viscosity.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Warm water registers artificially high TDS without proper compensation.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Normalization Equation (Normalized to 25°C reference):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V_25C = V_measured / (1.0 + 0.02 * (Temp - 25.0))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TDS (ppm) = (133.42 * V_25^3 - 255.86 * V_25^2 + 857.39 * V_25) * 0.5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Laboratory Sensor Calibration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pH Sensor Calibration: Submerged in standard pH 7.00 buffer solution; adjusted amplifier pot.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TDS Sensor Calibration: Tested in 1413 µS/cm conductivity reference and distilled water.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Turbidity Calibration: 4.2V represents clear drinking water (0 NTU); &lt;2.5V indicates turbid.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BACKEND &amp; CLOUD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Backend Architecture &amp; RESTful Ingestion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12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Flask REST API Engine (`app.py`)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Python 3.10 microframework with Gunicorn WSGI production web server.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Non-blocking architecture handling multi-client polling and ingestion concurrently.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Thread-Safe Ingestion: Dedicated background workers process incoming sensor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Primary REST Endpoints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POST /api/sensor/data — Ingests JSON telemetry from ESP32 or simulation tool.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GET /api/latest — Returns latest telemetry record with hardware watchdog status.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GET /api/history — Historical readings for Chart.js waveform trend visualization.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GET /api/stats — Real-time aggregation of today's Min, Max, and Average metrics.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GET /api/export/csv — Streams the entire database as a downloadable CSV spreadsheet.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BACKEND &amp; CLOUD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Database Architecture &amp; SQLAlchemy 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13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Relational Schema Design (`database.py`)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Table Name: water_readings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Fields: id (Primary Key), device_id, tds_value, ph_value, turbidity, temperature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Derived Metrics: do_value, ec_value, wqi_value, status (Safe/Warning/Unsafe)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Timestamp: UTC DateTime index for accelerated time-series historical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Why SQLite with SQLAlchemy ORM?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Serverless &amp; Lightweight: Negligible memory footprint (&lt;500KB RAM) for edge deployment.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Zero Configuration: Auto-creates tds_data.db without requiring daemon installations.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Enterprise Portability: Using SQLAlchemy ORM allows migrating to PostgreSQL via 1 config URI.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Thread Safety: check_same_thread=False enabled for multi-threaded Flask requests.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BACKEND &amp; CLOUD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Dual-Transport Communication (MQTT + HTTP Fallback)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14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MQTT Protocol (Primary Ingestion)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Lightweight publish-subscribe architecture running over TCP port 1883.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2-byte binary header minimizes battery drain and cellular/Wi-Fi bandwidth.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Background daemon thread (mqtt_subscriber.py) continuously ingests incoming packets.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HTTP REST Fallback &amp; Fault Tolerance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Direct HTTP Ingestion: ESP32 dispatches POST requests directly to cloud API.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Automated Failover: If MQTT broker is unreachable or blocked, HTTP fallback activates.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Guarantees zero packet loss during field network transitions or firewall blocks.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BACKEND &amp; CLOUD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Cloud Deployment on Render &amp; Vercel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15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Render.com Backend Container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Containerized Linux web service executing gunicorn app:app --workers 2.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Automated continuous deployment (CI/CD) directly from GitHub repository.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Environment variables managed securely via render.yaml manifest.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Vercel Frontend &amp; CORS Proxy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Static asset deployment on Vercel's global Edge Network (sub-50ms latency).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Cross-Origin (CORS) Solution: Server-side flask-cors combined with vercel.json rewrite.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Reverse Proxy: All /api/* calls are transparently forwarded to Render backend.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BACKEND &amp; CLOUD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Hardware Watchdog &amp; Fail-Safe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Member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16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The Stale Data Problem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In IoT monitoring, presenting outdated data as 'live' when hardware powers off is dangerous.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If an ESP32 loses power or probe disconnects, the user must be alerted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12-Second Watchdog Mechanism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Backend computes telemetry age: Age = CurrentTime - LatestRecordTimestamp.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Live State (Age ≤ 12.0s): Status displays pulsing green 'Hardware Connected (ESP32)'.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Disconnected State (Age &gt; 12.0s): Status displays red alert 'Hardware Disconnected'.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Safe Standby: Dashboard needles automatically drop to the -110° resting 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FRONTEND &amp; AI/ML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Frontend Architecture &amp; Glassmorphism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Naila Javed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17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Design System &amp; Aesthetics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Modern Light Palette: Crisp white cards (#FFFFFF), soft canvas (#F7F9FC), ocean blue (#2E86DE).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Glassmorphism UI: CSS backdrop-filter: blur(16px) with translucent borders.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Pure Vanilla Stack: Built with HTML5, Modern CSS3, and ES6+ JavaScript.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Zero Framework Overhead: Loads instantaneously under 350ms with zero build steps.</a:t>
            </a:r>
          </a:p>
        </p:txBody>
      </p:sp>
      <p:pic>
        <p:nvPicPr>
          <p:cNvPr id="9" name="Picture 8" descr="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29587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760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475569"/>
                </a:solidFill>
              </a:defRPr>
            </a:pPr>
            <a:r>
              <a:t>Live Dashboard Interface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FRONTEND &amp; AI/ML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Custom SVG Speedometers &amp; 220° Dial Gauges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Naila Javed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18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Mathematical Gauge Geometry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6 Dedicated Analog Meters: TDS, pH Level, Turbidity, Temp, DO, and Conductivity.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Calibrated Sweep: Unified 220° circular arc spanning from -110° to +110°.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Angular Mapping: Theta = -110° + ((Value - Min) / (Max - Min)) * 220°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Trigonometric Tick Placement: Line endpoints calculated dynamically via sine and cosine.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Physical Inertia &amp; Animation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Needles animated via CSS cubic-bezier(0.22, 1, 0.36, 1) easing curve.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Simulates real mechanical inertia, preventing jarring jumps when data updates.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Pure SVG implementation eliminates canvas pixelation on high-DPI retina screens.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FRONTEND &amp; AI/ML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AI/ML Analytics &amp; Weighted WQI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Naila Javed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19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Why Water Quality Index (WQI)?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Raw sensor numbers can confuse end-users who only want to know: 'Is this water safe?'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WQI compresses 6 complex physical and chemical dimensions into a single 0-100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Weighted Arithmetic Formulation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Formula: WQI = Sum(Wi * qi) / Sum(Wi)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Wi (Unit Weight): Inversely proportional to standard permissible limits (Wi = K / Si).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qi (Quality Sub-index): Normalized distance between actual value and ideal standard.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Predictive Potability Verdict: 90-100 (Excellent/Drinkable), 70-89 (Safe), &lt;50 (Unfit).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FRONTEND &amp; AI/ML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Historical Waveforms (Chart.js 4.4)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Naila Javed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20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Temporal Trend Visualizer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Canvas-rendered interactive time-series chart integrated via Chart.js 4.4.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Multi-Series Tab Switching: Instant toggle between TDS, pH, Turbidity, Temp, DO, and EC.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Custom Range Selectors: Query database history across 24 Hours, 7 Days, or 30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Operational Value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Bézier curve interpolation provides clear visibility into daily contamination spikes.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Enables municipal operators to pinpoint contamination timing after heavy rainfall or pipe bursts.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Dynamic tooltip inspection displays exact timestamp and parameter readings on hover.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FRONTEND &amp; AI/ML LAYER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Mobile QR Integration &amp; Official PDF Certificate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Naila Javed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21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669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Mobile View QR Code Modal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Header button generates dynamic on-screen QR code pointing to live Vercel URL.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Allows university examiners and field officers to scan and test live on mobile phones.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Fluid responsive layout tailored specifically for smartphone touchscreens.</a:t>
            </a:r>
          </a:p>
        </p:txBody>
      </p:sp>
      <p:pic>
        <p:nvPicPr>
          <p:cNvPr id="9" name="Picture 8" descr="mobil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105599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7607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475569"/>
                </a:solidFill>
              </a:defRPr>
            </a:pPr>
            <a:r>
              <a:t>Official PDF Inspection Certificate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HARDWARE &amp; ASSEMBLY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Hardware Prototyping &amp; Rig Fabrication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22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Collaborative Prototyping Work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Breadboard Circuit Assembly: Unified 5V high-current bus and 3.3V digital logic rails.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Ground Isolation: Common ground wiring prevents ground-loop distortion between sensors.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Probe Holder Rig: Custom acrylic mounting plate keeping probes submerged without touching.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Waterproof Cable Harness: Insulated wiring preventing moisture ingress and short circuits.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3-Point Laboratory Calibration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pH Electrode Calibration: Calibrated against standard buffer solutions at pH 4.01, 7.00, and 9.18.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TDS Probe Calibration: Normalized using 1413 µS/cm conductivity calibration solution.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Turbidity Baseline: Calibrated in pure distilled water to establish 0 NTU clean baseline.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TESTING &amp; VALIDATION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Live 3-Sample Testing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23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Experimental Validation Results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Sample A (Commercial RO Water): TDS 110 ppm, pH 7.2, Turb 0.8 NTU → WQI 92 (Green, Safe).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Sample B (Municipal Tap Water): TDS 380 ppm, pH 7.6, Turb 2.2 NTU → WQI 78 (Blue, Permissible).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Sample C (Contaminated Saline Water): TDS &gt;950 ppm, pH 9.1, Turb 14.5 NTU → WQI 42 (Red Alert).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Dynamic System Reaction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Needles dynamically sweep to red alert zone within 4 seconds of probe immersion in Sample C.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WQI circle updates instantly, triggering an automated red toast alert banner on dashboard.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Proves rapid in-situ contamination detection without laboratory turnaround delay.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DD3FC"/>
                </a:solidFill>
              </a:defRPr>
            </a:pPr>
            <a:r>
              <a:t>SUMMARY &amp; DEFENSE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Engineering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20040"/>
            <a:ext cx="2743200" cy="457200"/>
          </a:xfrm>
          <a:prstGeom prst="roundRect">
            <a:avLst/>
          </a:prstGeom>
          <a:solidFill>
            <a:srgbClr val="1E3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👤 Entire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AquaSense WQMS — IoT Capstone Defense (300 Marks)   |   Date: October 20, 2026  •  Time: 18:15 IST   |   Slide 24 of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Summary of Capstone Achievements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Successfully built full-stack IoT water monitor with 6 sensors and sub-4s cloud latency.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Implemented custom 40-sample median filter and 25°C thermal compensation algorithms.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Deployed live cloud infrastructure (Render + Vercel) with dual-transport reliability.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Total prototype bill of materials optimized under ₹3,100 for scalable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E41"/>
                </a:solidFill>
              </a:defRPr>
            </a:pPr>
            <a:r>
              <a:t>Future Engineering Scope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Predictive AI/ML: Adding LSTM neural network to forecast contamination 6 hours in advance.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Long-Range LoRaWAN: Replacing Wi-Fi with LoRaWAN (868MHz) for remote rural rivers up to 10km.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 Automated Dosing: Relay-actuated solenoid valves to inject neutralizer or chlorine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